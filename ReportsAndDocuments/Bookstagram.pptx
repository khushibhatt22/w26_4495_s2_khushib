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8" r:id="rId4"/>
    <p:sldId id="257" r:id="rId5"/>
    <p:sldId id="259" r:id="rId6"/>
    <p:sldId id="262" r:id="rId7"/>
    <p:sldId id="263" r:id="rId8"/>
    <p:sldId id="264" r:id="rId9"/>
    <p:sldId id="260" r:id="rId10"/>
    <p:sldId id="261" r:id="rId11"/>
    <p:sldId id="268" r:id="rId12"/>
    <p:sldId id="269" r:id="rId13"/>
    <p:sldId id="265" r:id="rId14"/>
    <p:sldId id="270" r:id="rId15"/>
    <p:sldId id="266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2571840"/>
            <a:ext cx="798372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4960" y="697680"/>
            <a:ext cx="4876920" cy="131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96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72160" y="164772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720000" y="1621440"/>
            <a:ext cx="1351800" cy="78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4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6087600" y="164772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735800" y="1621440"/>
            <a:ext cx="1351800" cy="78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4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2072160" y="34419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720000" y="3416040"/>
            <a:ext cx="1351800" cy="78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4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6087600" y="344196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735800" y="3416040"/>
            <a:ext cx="1351800" cy="788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4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Google Shape;61;p13"/>
          <p:cNvSpPr/>
          <p:nvPr/>
        </p:nvSpPr>
        <p:spPr>
          <a:xfrm>
            <a:off x="-1074240" y="-714240"/>
            <a:ext cx="1789200" cy="17892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Google Shape;64;p14"/>
          <p:cNvSpPr/>
          <p:nvPr/>
        </p:nvSpPr>
        <p:spPr>
          <a:xfrm>
            <a:off x="-1074240" y="-714240"/>
            <a:ext cx="1789200" cy="17892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Google Shape;67;p15"/>
          <p:cNvSpPr/>
          <p:nvPr/>
        </p:nvSpPr>
        <p:spPr>
          <a:xfrm>
            <a:off x="8191080" y="39747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68;p15"/>
          <p:cNvSpPr/>
          <p:nvPr/>
        </p:nvSpPr>
        <p:spPr>
          <a:xfrm>
            <a:off x="-555840" y="40521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_1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5380560" y="534960"/>
            <a:ext cx="3086640" cy="4073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" name="Google Shape;72;p16"/>
          <p:cNvSpPr/>
          <p:nvPr/>
        </p:nvSpPr>
        <p:spPr>
          <a:xfrm>
            <a:off x="-1074240" y="-743400"/>
            <a:ext cx="1789200" cy="17892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676440" y="534960"/>
            <a:ext cx="4527000" cy="133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266904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3403800" y="266904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title"/>
          </p:nvPr>
        </p:nvSpPr>
        <p:spPr>
          <a:xfrm>
            <a:off x="6087600" y="2669040"/>
            <a:ext cx="23360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Google Shape;83;p17"/>
          <p:cNvSpPr/>
          <p:nvPr/>
        </p:nvSpPr>
        <p:spPr>
          <a:xfrm>
            <a:off x="8084160" y="-1069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9" name="Google Shape;84;p17"/>
          <p:cNvSpPr/>
          <p:nvPr/>
        </p:nvSpPr>
        <p:spPr>
          <a:xfrm>
            <a:off x="8493120" y="115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94360" y="1681560"/>
            <a:ext cx="22694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5379480" y="1681560"/>
            <a:ext cx="22694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1494360" y="3461040"/>
            <a:ext cx="22694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5379480" y="3689640"/>
            <a:ext cx="226944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Google Shape;95;p18"/>
          <p:cNvSpPr/>
          <p:nvPr/>
        </p:nvSpPr>
        <p:spPr>
          <a:xfrm>
            <a:off x="8084160" y="-1069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Google Shape;96;p18"/>
          <p:cNvSpPr/>
          <p:nvPr/>
        </p:nvSpPr>
        <p:spPr>
          <a:xfrm>
            <a:off x="8493120" y="115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1758960"/>
            <a:ext cx="23050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419280" y="1758960"/>
            <a:ext cx="23050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720000" y="3643200"/>
            <a:ext cx="23050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title"/>
          </p:nvPr>
        </p:nvSpPr>
        <p:spPr>
          <a:xfrm>
            <a:off x="3419280" y="3643200"/>
            <a:ext cx="23050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title"/>
          </p:nvPr>
        </p:nvSpPr>
        <p:spPr>
          <a:xfrm>
            <a:off x="6118560" y="1758960"/>
            <a:ext cx="23050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title"/>
          </p:nvPr>
        </p:nvSpPr>
        <p:spPr>
          <a:xfrm>
            <a:off x="6118560" y="3643200"/>
            <a:ext cx="2305080" cy="52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7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Google Shape;111;p19"/>
          <p:cNvSpPr/>
          <p:nvPr/>
        </p:nvSpPr>
        <p:spPr>
          <a:xfrm>
            <a:off x="-1074240" y="-714240"/>
            <a:ext cx="1789200" cy="17892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4960" y="1594440"/>
            <a:ext cx="3425400" cy="82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2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title"/>
          </p:nvPr>
        </p:nvSpPr>
        <p:spPr>
          <a:xfrm>
            <a:off x="5003280" y="1594440"/>
            <a:ext cx="3425400" cy="82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2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title"/>
          </p:nvPr>
        </p:nvSpPr>
        <p:spPr>
          <a:xfrm>
            <a:off x="2859120" y="3207240"/>
            <a:ext cx="3425400" cy="82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2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6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Google Shape;120;p20"/>
          <p:cNvSpPr/>
          <p:nvPr/>
        </p:nvSpPr>
        <p:spPr>
          <a:xfrm>
            <a:off x="-1074240" y="-714240"/>
            <a:ext cx="1789200" cy="17892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290680" y="763560"/>
            <a:ext cx="6138000" cy="1077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714960" y="588600"/>
            <a:ext cx="2030760" cy="1137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xx%</a:t>
            </a:r>
            <a:endParaRPr lang="fr-FR" sz="8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430000" y="534960"/>
            <a:ext cx="428364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Google Shape;124;p21"/>
          <p:cNvSpPr/>
          <p:nvPr/>
        </p:nvSpPr>
        <p:spPr>
          <a:xfrm>
            <a:off x="2012760" y="3419280"/>
            <a:ext cx="5118120" cy="61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  <a:hlinkClick r:id="rId4"/>
              </a:rPr>
              <a:t>Freepik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exend Deca"/>
                <a:ea typeface="Lexend Deca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" name="Google Shape;125;p21"/>
          <p:cNvSpPr/>
          <p:nvPr/>
        </p:nvSpPr>
        <p:spPr>
          <a:xfrm flipH="1">
            <a:off x="-1035000" y="2813400"/>
            <a:ext cx="1989000" cy="19890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Google Shape;126;p21"/>
          <p:cNvSpPr/>
          <p:nvPr/>
        </p:nvSpPr>
        <p:spPr>
          <a:xfrm flipH="1">
            <a:off x="-117360" y="4147920"/>
            <a:ext cx="1989000" cy="19890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28;p22"/>
          <p:cNvSpPr/>
          <p:nvPr/>
        </p:nvSpPr>
        <p:spPr>
          <a:xfrm>
            <a:off x="-1074240" y="-714240"/>
            <a:ext cx="1789200" cy="178920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7" name="Google Shape;129;p22"/>
          <p:cNvGrpSpPr/>
          <p:nvPr/>
        </p:nvGrpSpPr>
        <p:grpSpPr>
          <a:xfrm>
            <a:off x="8592120" y="289080"/>
            <a:ext cx="297720" cy="155880"/>
            <a:chOff x="8592120" y="289080"/>
            <a:chExt cx="297720" cy="155880"/>
          </a:xfrm>
        </p:grpSpPr>
        <p:cxnSp>
          <p:nvCxnSpPr>
            <p:cNvPr id="58" name="Google Shape;130;p22"/>
            <p:cNvCxnSpPr/>
            <p:nvPr/>
          </p:nvCxnSpPr>
          <p:spPr>
            <a:xfrm flipH="1">
              <a:off x="8592120" y="366480"/>
              <a:ext cx="297360" cy="360"/>
            </a:xfrm>
            <a:prstGeom prst="straightConnector1">
              <a:avLst/>
            </a:prstGeom>
            <a:ln w="9525">
              <a:solidFill>
                <a:srgbClr val="191919"/>
              </a:solidFill>
              <a:round/>
            </a:ln>
          </p:spPr>
        </p:cxnSp>
        <p:cxnSp>
          <p:nvCxnSpPr>
            <p:cNvPr id="59" name="Google Shape;131;p22"/>
            <p:cNvCxnSpPr/>
            <p:nvPr/>
          </p:nvCxnSpPr>
          <p:spPr>
            <a:xfrm flipH="1" flipV="1">
              <a:off x="8811720" y="289080"/>
              <a:ext cx="78480" cy="78480"/>
            </a:xfrm>
            <a:prstGeom prst="straightConnector1">
              <a:avLst/>
            </a:prstGeom>
            <a:ln w="9525">
              <a:solidFill>
                <a:srgbClr val="191919"/>
              </a:solidFill>
              <a:round/>
            </a:ln>
          </p:spPr>
        </p:cxnSp>
        <p:cxnSp>
          <p:nvCxnSpPr>
            <p:cNvPr id="60" name="Google Shape;132;p22"/>
            <p:cNvCxnSpPr/>
            <p:nvPr/>
          </p:nvCxnSpPr>
          <p:spPr>
            <a:xfrm flipH="1">
              <a:off x="8811720" y="366480"/>
              <a:ext cx="78480" cy="78840"/>
            </a:xfrm>
            <a:prstGeom prst="straightConnector1">
              <a:avLst/>
            </a:prstGeom>
            <a:ln w="9525">
              <a:solidFill>
                <a:srgbClr val="191919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134;p23"/>
          <p:cNvGrpSpPr/>
          <p:nvPr/>
        </p:nvGrpSpPr>
        <p:grpSpPr>
          <a:xfrm>
            <a:off x="236520" y="4782240"/>
            <a:ext cx="297720" cy="155520"/>
            <a:chOff x="236520" y="4782240"/>
            <a:chExt cx="297720" cy="155520"/>
          </a:xfrm>
        </p:grpSpPr>
        <p:cxnSp>
          <p:nvCxnSpPr>
            <p:cNvPr id="62" name="Google Shape;135;p23"/>
            <p:cNvCxnSpPr/>
            <p:nvPr/>
          </p:nvCxnSpPr>
          <p:spPr>
            <a:xfrm flipH="1">
              <a:off x="236520" y="4859640"/>
              <a:ext cx="297360" cy="360"/>
            </a:xfrm>
            <a:prstGeom prst="straightConnector1">
              <a:avLst/>
            </a:prstGeom>
            <a:ln w="9525">
              <a:solidFill>
                <a:srgbClr val="191919"/>
              </a:solidFill>
              <a:round/>
            </a:ln>
          </p:spPr>
        </p:cxnSp>
        <p:cxnSp>
          <p:nvCxnSpPr>
            <p:cNvPr id="63" name="Google Shape;136;p23"/>
            <p:cNvCxnSpPr/>
            <p:nvPr/>
          </p:nvCxnSpPr>
          <p:spPr>
            <a:xfrm flipH="1" flipV="1">
              <a:off x="456120" y="4782240"/>
              <a:ext cx="78480" cy="78480"/>
            </a:xfrm>
            <a:prstGeom prst="straightConnector1">
              <a:avLst/>
            </a:prstGeom>
            <a:ln w="9525">
              <a:solidFill>
                <a:srgbClr val="191919"/>
              </a:solidFill>
              <a:round/>
            </a:ln>
          </p:spPr>
        </p:cxnSp>
        <p:cxnSp>
          <p:nvCxnSpPr>
            <p:cNvPr id="64" name="Google Shape;137;p23"/>
            <p:cNvCxnSpPr/>
            <p:nvPr/>
          </p:nvCxnSpPr>
          <p:spPr>
            <a:xfrm flipH="1">
              <a:off x="456120" y="4859640"/>
              <a:ext cx="78480" cy="78480"/>
            </a:xfrm>
            <a:prstGeom prst="straightConnector1">
              <a:avLst/>
            </a:prstGeom>
            <a:ln w="9525">
              <a:solidFill>
                <a:srgbClr val="191919"/>
              </a:solidFill>
              <a:round/>
            </a:ln>
          </p:spPr>
        </p:cxnSp>
      </p:grpSp>
      <p:sp>
        <p:nvSpPr>
          <p:cNvPr id="65" name="Google Shape;138;p23"/>
          <p:cNvSpPr/>
          <p:nvPr/>
        </p:nvSpPr>
        <p:spPr>
          <a:xfrm>
            <a:off x="8084160" y="-1069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139;p23"/>
          <p:cNvSpPr/>
          <p:nvPr/>
        </p:nvSpPr>
        <p:spPr>
          <a:xfrm>
            <a:off x="8493120" y="115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20000" y="1037880"/>
            <a:ext cx="7703640" cy="357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9" name="Google Shape;18;p4"/>
          <p:cNvSpPr/>
          <p:nvPr/>
        </p:nvSpPr>
        <p:spPr>
          <a:xfrm>
            <a:off x="8084160" y="-1069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9;p4"/>
          <p:cNvSpPr/>
          <p:nvPr/>
        </p:nvSpPr>
        <p:spPr>
          <a:xfrm>
            <a:off x="8493120" y="115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Google Shape;26;p5"/>
          <p:cNvSpPr/>
          <p:nvPr/>
        </p:nvSpPr>
        <p:spPr>
          <a:xfrm>
            <a:off x="8084160" y="-1069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27;p5"/>
          <p:cNvSpPr/>
          <p:nvPr/>
        </p:nvSpPr>
        <p:spPr>
          <a:xfrm>
            <a:off x="8493120" y="115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5" name="Google Shape;30;p6"/>
          <p:cNvSpPr/>
          <p:nvPr/>
        </p:nvSpPr>
        <p:spPr>
          <a:xfrm>
            <a:off x="8084160" y="-1069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Google Shape;31;p6"/>
          <p:cNvSpPr/>
          <p:nvPr/>
        </p:nvSpPr>
        <p:spPr>
          <a:xfrm>
            <a:off x="8493120" y="115560"/>
            <a:ext cx="1725480" cy="1725480"/>
          </a:xfrm>
          <a:prstGeom prst="ellipse">
            <a:avLst/>
          </a:prstGeom>
          <a:noFill/>
          <a:ln w="9525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362840" y="696240"/>
            <a:ext cx="4065480" cy="217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714960" y="795240"/>
            <a:ext cx="4816800" cy="107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14960" y="2972880"/>
            <a:ext cx="4772160" cy="143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-7920" y="-396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145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48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155;p28"/>
          <p:cNvPicPr/>
          <p:nvPr/>
        </p:nvPicPr>
        <p:blipFill>
          <a:blip r:embed="rId3"/>
          <a:stretch/>
        </p:blipFill>
        <p:spPr>
          <a:xfrm>
            <a:off x="0" y="360"/>
            <a:ext cx="9143640" cy="249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60660" y="2557366"/>
            <a:ext cx="4190940" cy="82808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300" b="1" u="none" strike="noStrike" dirty="0">
                <a:solidFill>
                  <a:srgbClr val="191919"/>
                </a:solidFill>
                <a:effectLst/>
                <a:uFillTx/>
                <a:latin typeface="EB Garamond"/>
                <a:ea typeface="EB Garamond"/>
              </a:rPr>
              <a:t>Bookstagram</a:t>
            </a:r>
            <a:endParaRPr lang="fr-FR" sz="63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3019651" y="3661904"/>
            <a:ext cx="2530249" cy="48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Lexend Deca Light"/>
                <a:ea typeface="Lexend Deca Light"/>
              </a:rPr>
              <a:t>(MERN Social AI Authoring Platform)</a:t>
            </a:r>
            <a:endParaRPr lang="en-US" sz="1200" b="0" u="none" strike="noStrike" dirty="0">
              <a:solidFill>
                <a:schemeClr val="accent1">
                  <a:lumMod val="5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158;p28"/>
          <p:cNvSpPr/>
          <p:nvPr/>
        </p:nvSpPr>
        <p:spPr>
          <a:xfrm>
            <a:off x="-619200" y="352440"/>
            <a:ext cx="1323720" cy="132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662040" rIns="870823080" bIns="66204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59;p28"/>
          <p:cNvSpPr/>
          <p:nvPr/>
        </p:nvSpPr>
        <p:spPr>
          <a:xfrm>
            <a:off x="-276120" y="-638280"/>
            <a:ext cx="1323720" cy="132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662040" rIns="870823080" bIns="66204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60;p28"/>
          <p:cNvSpPr/>
          <p:nvPr/>
        </p:nvSpPr>
        <p:spPr>
          <a:xfrm>
            <a:off x="8362800" y="4219560"/>
            <a:ext cx="2473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23840" rIns="870823080" bIns="12384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61;p28"/>
          <p:cNvSpPr/>
          <p:nvPr/>
        </p:nvSpPr>
        <p:spPr>
          <a:xfrm>
            <a:off x="8296200" y="4448160"/>
            <a:ext cx="1807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90360" rIns="870823080" bIns="9036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Google Shape;162;p28"/>
          <p:cNvCxnSpPr/>
          <p:nvPr/>
        </p:nvCxnSpPr>
        <p:spPr>
          <a:xfrm>
            <a:off x="-16920" y="2494080"/>
            <a:ext cx="9182880" cy="360"/>
          </a:xfrm>
          <a:prstGeom prst="straightConnector1">
            <a:avLst/>
          </a:prstGeom>
          <a:ln w="9525">
            <a:solidFill>
              <a:srgbClr val="191919"/>
            </a:solidFill>
            <a:round/>
          </a:ln>
        </p:spPr>
      </p:cxnSp>
      <p:sp>
        <p:nvSpPr>
          <p:cNvPr id="2" name="PlaceHolder 2">
            <a:extLst>
              <a:ext uri="{FF2B5EF4-FFF2-40B4-BE49-F238E27FC236}">
                <a16:creationId xmlns:a16="http://schemas.microsoft.com/office/drawing/2014/main" id="{15D48BF4-23FE-5A41-B906-65D3ACABB119}"/>
              </a:ext>
            </a:extLst>
          </p:cNvPr>
          <p:cNvSpPr txBox="1">
            <a:spLocks/>
          </p:cNvSpPr>
          <p:nvPr/>
        </p:nvSpPr>
        <p:spPr>
          <a:xfrm>
            <a:off x="2743260" y="3319100"/>
            <a:ext cx="6676560" cy="48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Lexend Deca Light"/>
              </a:rPr>
              <a:t>“Why just read when you can create!”</a:t>
            </a:r>
            <a:endParaRPr lang="en-US" sz="1600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2852F-8EAC-8A75-7F35-706A3EC921BE}"/>
              </a:ext>
            </a:extLst>
          </p:cNvPr>
          <p:cNvSpPr txBox="1"/>
          <p:nvPr/>
        </p:nvSpPr>
        <p:spPr>
          <a:xfrm>
            <a:off x="144440" y="4652560"/>
            <a:ext cx="2875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tx2">
                    <a:lumMod val="50000"/>
                  </a:schemeClr>
                </a:solidFill>
              </a:rPr>
              <a:t>Presented By: Khushi Bhatt &amp; Aditi </a:t>
            </a:r>
            <a:r>
              <a:rPr lang="en-CA" sz="1200" dirty="0" err="1">
                <a:solidFill>
                  <a:schemeClr val="tx2">
                    <a:lumMod val="50000"/>
                  </a:schemeClr>
                </a:solidFill>
              </a:rPr>
              <a:t>Aditi</a:t>
            </a:r>
            <a:endParaRPr lang="en-CA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A3341-EC3C-8BFE-710B-C18DF18E9035}"/>
              </a:ext>
            </a:extLst>
          </p:cNvPr>
          <p:cNvSpPr txBox="1"/>
          <p:nvPr/>
        </p:nvSpPr>
        <p:spPr>
          <a:xfrm>
            <a:off x="5962914" y="4652560"/>
            <a:ext cx="2875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CSIS 4495 – Applied Research Project</a:t>
            </a:r>
            <a:endParaRPr lang="en-CA" sz="12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EB Garamond"/>
              </a:rPr>
              <a:t>Product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02" name="image69d6fce61113a" descr="image69d6fce611140"/>
          <p:cNvPicPr/>
          <p:nvPr/>
        </p:nvPicPr>
        <p:blipFill>
          <a:blip r:embed="rId3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76440" y="533520"/>
            <a:ext cx="4524120" cy="133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Introduction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76440" y="2028960"/>
            <a:ext cx="452412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Bookstagram is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MERN-stack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 social writing platform combining AI authoring with social features for collaborative storytelling.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Designed to showcase AI-assisted eBook creation, real-time social interactions, and export capabilities for reader and author workflows.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9" name="Google Shape;209;p32"/>
          <p:cNvPicPr/>
          <p:nvPr/>
        </p:nvPicPr>
        <p:blipFill>
          <a:blip r:embed="rId2"/>
          <a:stretch/>
        </p:blipFill>
        <p:spPr>
          <a:xfrm>
            <a:off x="5380560" y="534960"/>
            <a:ext cx="3086640" cy="4073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EB Garamond"/>
              </a:rPr>
              <a:t>Problem &amp; Solution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476280" y="1428480"/>
            <a:ext cx="3762345" cy="323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      Problems: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b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</a:b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Writers struggle with: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Generating ideas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Maintaining motivation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Completing eBooks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AI tools: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Help generate content but lack engagement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Social platforms: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Provide engagement but no structured writing support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200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100" dirty="0"/>
              <a:t>This creates the </a:t>
            </a:r>
            <a:r>
              <a:rPr lang="en-US" sz="1100" b="1" dirty="0"/>
              <a:t>“Social Authoring Gap.”</a:t>
            </a:r>
            <a:endParaRPr lang="en-US" sz="1100" b="1" u="none" strike="noStrike" dirty="0"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31659D-9249-7BF0-29B0-2BCE9D5593B1}"/>
              </a:ext>
            </a:extLst>
          </p:cNvPr>
          <p:cNvSpPr txBox="1"/>
          <p:nvPr/>
        </p:nvSpPr>
        <p:spPr>
          <a:xfrm>
            <a:off x="4571820" y="1476495"/>
            <a:ext cx="391495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Solution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: </a:t>
            </a:r>
            <a:r>
              <a:rPr lang="en-US" sz="1200" b="1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Bookstagram</a:t>
            </a:r>
          </a:p>
          <a:p>
            <a:endParaRPr lang="en-US" sz="1200" b="1" dirty="0">
              <a:solidFill>
                <a:schemeClr val="dk1"/>
              </a:solidFill>
              <a:latin typeface="Lexend Deca Light"/>
            </a:endParaRPr>
          </a:p>
          <a:p>
            <a:r>
              <a:rPr lang="en-US" sz="1200" dirty="0">
                <a:solidFill>
                  <a:schemeClr val="dk1"/>
                </a:solidFill>
                <a:latin typeface="OpenSymbol"/>
              </a:rPr>
              <a:t>Combines: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OpenSymbol"/>
              </a:rPr>
              <a:t>AI-assisted writing (Gemini)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OpenSymbol"/>
              </a:rPr>
              <a:t>Social features (likes, follows, feed)</a:t>
            </a:r>
          </a:p>
          <a:p>
            <a:endParaRPr lang="en-US" sz="1200" dirty="0">
              <a:solidFill>
                <a:schemeClr val="dk1"/>
              </a:solidFill>
              <a:latin typeface="OpenSymbol"/>
            </a:endParaRPr>
          </a:p>
          <a:p>
            <a:r>
              <a:rPr lang="en-US" sz="1200" dirty="0">
                <a:solidFill>
                  <a:schemeClr val="dk1"/>
                </a:solidFill>
                <a:latin typeface="OpenSymbol"/>
              </a:rPr>
              <a:t>Unique features: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OpenSymbol"/>
              </a:rPr>
              <a:t>AI + Social in one platform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OpenSymbol"/>
              </a:rPr>
              <a:t>3 writing modes (Human + AI collaboration)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dk1"/>
                </a:solidFill>
                <a:latin typeface="OpenSymbol"/>
              </a:rPr>
              <a:t>Full authoring – publishing workflow</a:t>
            </a:r>
          </a:p>
          <a:p>
            <a:endParaRPr lang="en-US" sz="1200" dirty="0">
              <a:solidFill>
                <a:schemeClr val="dk1"/>
              </a:solidFill>
              <a:latin typeface="OpenSymbol"/>
            </a:endParaRPr>
          </a:p>
          <a:p>
            <a:r>
              <a:rPr lang="en-US" sz="1200" dirty="0">
                <a:solidFill>
                  <a:schemeClr val="dk1"/>
                </a:solidFill>
                <a:latin typeface="OpenSymbol"/>
              </a:rPr>
              <a:t>Novelty: Hybrid of </a:t>
            </a:r>
            <a:r>
              <a:rPr lang="en-US" sz="1200" b="1" dirty="0">
                <a:solidFill>
                  <a:schemeClr val="dk1"/>
                </a:solidFill>
                <a:latin typeface="OpenSymbol"/>
              </a:rPr>
              <a:t>AI writing + social engagement</a:t>
            </a:r>
            <a:endParaRPr lang="en-CA" sz="1200" b="1" dirty="0">
              <a:latin typeface="OpenSymbo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097B74-17F2-8858-017C-BC0783A75D05}"/>
              </a:ext>
            </a:extLst>
          </p:cNvPr>
          <p:cNvCxnSpPr>
            <a:cxnSpLocks/>
          </p:cNvCxnSpPr>
          <p:nvPr/>
        </p:nvCxnSpPr>
        <p:spPr>
          <a:xfrm>
            <a:off x="4362450" y="1343025"/>
            <a:ext cx="0" cy="3486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239D77BC-E156-DE99-2B39-B0B022353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80" y="1511055"/>
            <a:ext cx="266130" cy="266130"/>
          </a:xfrm>
          <a:prstGeom prst="rect">
            <a:avLst/>
          </a:prstGeom>
        </p:spPr>
      </p:pic>
      <p:pic>
        <p:nvPicPr>
          <p:cNvPr id="10" name="Graphic 9" descr="Lightbulb with solid fill">
            <a:extLst>
              <a:ext uri="{FF2B5EF4-FFF2-40B4-BE49-F238E27FC236}">
                <a16:creationId xmlns:a16="http://schemas.microsoft.com/office/drawing/2014/main" id="{8A7A910A-172C-8E4F-05B6-DA166FCEE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2450" y="1511055"/>
            <a:ext cx="319617" cy="266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EB Garamond"/>
              </a:rPr>
              <a:t>Technical Details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12" name="image69d6fce62e2dc" descr="image69d6fce62e2e2"/>
          <p:cNvPicPr/>
          <p:nvPr/>
        </p:nvPicPr>
        <p:blipFill>
          <a:blip r:embed="rId3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EB Garamond"/>
              </a:rPr>
              <a:t>Technology Stack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Frontend: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React + Vite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, Tailwind CSS, React Router, Axios for requests.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Backend: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Node.js + Express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, MongoDB, JWT authentication, Socket.io for real-time</a:t>
            </a:r>
            <a:r>
              <a:rPr lang="en-US" sz="1400" dirty="0">
                <a:solidFill>
                  <a:schemeClr val="dk1"/>
                </a:solidFill>
                <a:latin typeface="Lexend Deca Light"/>
              </a:rPr>
              <a:t> messaging.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Deployment: Cloud storage (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Lexend Deca Light"/>
              </a:rPr>
              <a:t>Cloudinary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), CI/CD pipelines.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AI Integration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ubTitle"/>
          </p:nvPr>
        </p:nvSpPr>
        <p:spPr>
          <a:xfrm>
            <a:off x="723960" y="1305000"/>
            <a:ext cx="7857720" cy="240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Google Gemini handles outlines, chapter generation, and the BookBot chatbot.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Hugging Face provides story image and avatar generation for covers and content visuals.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Hybrid workflows allow iterative user-AI collaboration and in-app AI suggestions for threads.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B Garamond"/>
              </a:rPr>
              <a:t>Key Features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476280" y="142848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AI eBook creation (outline + chapters)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Chapter editor with 3 writing modes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AI-generated images &amp; covers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Social feed (like, follow, explore)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Threads (posts + comments)</a:t>
            </a: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Real-time messaging + AI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Lexend Deca Light"/>
              </a:rPr>
              <a:t>Bookbot</a:t>
            </a:r>
            <a:endParaRPr lang="en-US" sz="1400" b="0" u="none" strike="noStrike" dirty="0">
              <a:solidFill>
                <a:schemeClr val="dk1"/>
              </a:solidFill>
              <a:effectLst/>
              <a:uFillTx/>
              <a:latin typeface="Lexend Deca Light"/>
            </a:endParaRPr>
          </a:p>
          <a:p>
            <a:pPr marL="171450" indent="-1714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</a:rPr>
              <a:t>PDF &amp; DOCX export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07" name="image69d6fce6219a4" descr="image69d6fce6219a9"/>
          <p:cNvPicPr/>
          <p:nvPr/>
        </p:nvPicPr>
        <p:blipFill>
          <a:blip r:embed="rId3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User Flow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19BF8D-A09B-C61C-9036-19632E74617C}"/>
              </a:ext>
            </a:extLst>
          </p:cNvPr>
          <p:cNvSpPr/>
          <p:nvPr/>
        </p:nvSpPr>
        <p:spPr>
          <a:xfrm>
            <a:off x="723960" y="1367622"/>
            <a:ext cx="1501080" cy="49789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  <a:latin typeface="Lexend Deca Light"/>
                <a:ea typeface="Lexend Deca Light"/>
              </a:rPr>
              <a:t>Start</a:t>
            </a:r>
            <a:endParaRPr lang="en-CA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79FB1A-C606-8861-BE69-C9F0822CC9CA}"/>
              </a:ext>
            </a:extLst>
          </p:cNvPr>
          <p:cNvSpPr/>
          <p:nvPr/>
        </p:nvSpPr>
        <p:spPr>
          <a:xfrm>
            <a:off x="717864" y="2067534"/>
            <a:ext cx="1507176" cy="49788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  <a:latin typeface="Lexend Deca Light"/>
              </a:rPr>
              <a:t>Compose</a:t>
            </a:r>
            <a:endParaRPr lang="en-CA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2E87D8-2D4B-4B85-DD03-8F978F73E3A5}"/>
              </a:ext>
            </a:extLst>
          </p:cNvPr>
          <p:cNvSpPr/>
          <p:nvPr/>
        </p:nvSpPr>
        <p:spPr>
          <a:xfrm>
            <a:off x="717864" y="2767443"/>
            <a:ext cx="1507176" cy="497889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  <a:latin typeface="Lexend Deca Light"/>
              </a:rPr>
              <a:t>Publish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AE551D-E76E-FE02-656A-BA95131EB4F6}"/>
              </a:ext>
            </a:extLst>
          </p:cNvPr>
          <p:cNvSpPr/>
          <p:nvPr/>
        </p:nvSpPr>
        <p:spPr>
          <a:xfrm>
            <a:off x="3008256" y="1497132"/>
            <a:ext cx="5169408" cy="2388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i="1" dirty="0">
                <a:solidFill>
                  <a:schemeClr val="dk1"/>
                </a:solidFill>
                <a:latin typeface="Lexend Deca Light"/>
                <a:ea typeface="Lexend Deca Light"/>
              </a:rPr>
              <a:t>Onboarding Profile Setup</a:t>
            </a:r>
            <a:r>
              <a:rPr lang="en-US" sz="1400" dirty="0">
                <a:solidFill>
                  <a:schemeClr val="dk1"/>
                </a:solidFill>
                <a:latin typeface="Lexend Deca Light"/>
                <a:ea typeface="Lexend Deca Light"/>
              </a:rPr>
              <a:t> with avatar creation and preferences.</a:t>
            </a:r>
            <a:endParaRPr lang="en-US" sz="1400" dirty="0">
              <a:solidFill>
                <a:srgbClr val="000000"/>
              </a:solidFill>
              <a:latin typeface="OpenSymbo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8BFEE2-0A43-6B67-5313-D4EC641F1B90}"/>
              </a:ext>
            </a:extLst>
          </p:cNvPr>
          <p:cNvCxnSpPr>
            <a:cxnSpLocks/>
            <a:stCxn id="2" idx="6"/>
            <a:endCxn id="6" idx="1"/>
          </p:cNvCxnSpPr>
          <p:nvPr/>
        </p:nvCxnSpPr>
        <p:spPr>
          <a:xfrm>
            <a:off x="2225040" y="1616568"/>
            <a:ext cx="783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04137AF-375C-F103-FB53-8B07E2B26784}"/>
              </a:ext>
            </a:extLst>
          </p:cNvPr>
          <p:cNvSpPr/>
          <p:nvPr/>
        </p:nvSpPr>
        <p:spPr>
          <a:xfrm>
            <a:off x="3008256" y="2326549"/>
            <a:ext cx="5724144" cy="2388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Choose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writing mode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 (manual, AI, hybrid) and generate outlines or chapters.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6702C0E-B8DA-ECFD-1A15-8DB2AAB2F51E}"/>
              </a:ext>
            </a:extLst>
          </p:cNvPr>
          <p:cNvCxnSpPr>
            <a:cxnSpLocks/>
            <a:stCxn id="16" idx="6"/>
          </p:cNvCxnSpPr>
          <p:nvPr/>
        </p:nvCxnSpPr>
        <p:spPr>
          <a:xfrm flipV="1">
            <a:off x="2225040" y="2316478"/>
            <a:ext cx="78321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2DD599-0EA2-572F-5F3D-D3C0D62DE9B4}"/>
              </a:ext>
            </a:extLst>
          </p:cNvPr>
          <p:cNvCxnSpPr>
            <a:cxnSpLocks/>
          </p:cNvCxnSpPr>
          <p:nvPr/>
        </p:nvCxnSpPr>
        <p:spPr>
          <a:xfrm flipV="1">
            <a:off x="2225040" y="2965135"/>
            <a:ext cx="78321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C7D8AE4-1456-C9AF-35E2-81D78DE6F546}"/>
              </a:ext>
            </a:extLst>
          </p:cNvPr>
          <p:cNvSpPr/>
          <p:nvPr/>
        </p:nvSpPr>
        <p:spPr>
          <a:xfrm>
            <a:off x="3008256" y="2821589"/>
            <a:ext cx="5169408" cy="23887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Export eBook (PDF/DOCX) or share to feed for discovery.</a:t>
            </a:r>
            <a:endParaRPr lang="en-US" sz="140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A1865-4ABA-0A60-BDA4-D6BE0A39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>
            <a:extLst>
              <a:ext uri="{FF2B5EF4-FFF2-40B4-BE49-F238E27FC236}">
                <a16:creationId xmlns:a16="http://schemas.microsoft.com/office/drawing/2014/main" id="{842BCEF0-B1E8-8BF8-007B-790D44B9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280" y="256454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dirty="0">
                <a:solidFill>
                  <a:schemeClr val="dk1"/>
                </a:solidFill>
                <a:latin typeface="EB Garamond"/>
                <a:ea typeface="EB Garamond"/>
              </a:rPr>
              <a:t>Implementation Approach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>
            <a:extLst>
              <a:ext uri="{FF2B5EF4-FFF2-40B4-BE49-F238E27FC236}">
                <a16:creationId xmlns:a16="http://schemas.microsoft.com/office/drawing/2014/main" id="{3C9A8237-AD1B-055E-88CC-8929C0634F6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19279" y="831924"/>
            <a:ext cx="7705439" cy="34796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Agile Development (Sprint-Based)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Followed an iterative Agile SDLC approach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Timeline: January – April 2026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Development Phases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Backend architecture &amp; secure authentication (JWT)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AI integration (Gemini for text,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HuggingFace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 for images)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Core feature development (eBook creation, chapter editor, social features)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Real-time messaging &amp; AI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Bookbot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 (Socket.io)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User analytics &amp; performance tracking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Testing &amp;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Continuous testing and debugging after each sprint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Regular improvements for performance and user experience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54661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9B137-295B-3D47-70BA-EA9872A9C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EC9D5225-688E-7A09-3A1E-E6DA2533A6C0}"/>
              </a:ext>
            </a:extLst>
          </p:cNvPr>
          <p:cNvSpPr/>
          <p:nvPr/>
        </p:nvSpPr>
        <p:spPr>
          <a:xfrm>
            <a:off x="476280" y="82402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EB Garamond"/>
              </a:rPr>
              <a:t>Challenges Faced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DCF5274-A4A9-9CC0-F547-65AB892A0CAB}"/>
              </a:ext>
            </a:extLst>
          </p:cNvPr>
          <p:cNvSpPr/>
          <p:nvPr/>
        </p:nvSpPr>
        <p:spPr>
          <a:xfrm>
            <a:off x="476280" y="821505"/>
            <a:ext cx="8191080" cy="33775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Gemini API changes (breaking updates)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Avatar generation from prompts was difficult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Re-generating avatars with changes (e.g., expressions like wink) was inconsistent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Used Gemini + Flux + </a:t>
            </a:r>
            <a:r>
              <a:rPr lang="en-US" sz="16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HuggingFace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APIs for image generation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Profile picture update not reflecting across pages (Profile &amp; Dashboard)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000000"/>
                </a:solidFill>
                <a:effectLst/>
                <a:uFillTx/>
                <a:latin typeface="OpenSymbol"/>
              </a:rPr>
              <a:t>Cloudinary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 integration vs local storage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Real-time messaging setup (Socket.io)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Markdown to PDF/DOCX conversion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Merge conflicts in Git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40074-AFBD-C4BA-372B-8E984627841A}"/>
              </a:ext>
            </a:extLst>
          </p:cNvPr>
          <p:cNvSpPr txBox="1"/>
          <p:nvPr/>
        </p:nvSpPr>
        <p:spPr>
          <a:xfrm>
            <a:off x="476280" y="4676803"/>
            <a:ext cx="6617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Resolved through debugging, testing, and improvements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OpenSymbol"/>
            </a:endParaRPr>
          </a:p>
          <a:p>
            <a:endParaRPr lang="en-CA" dirty="0"/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1F1CFB9F-C3B8-5D8A-B114-EC0093AF396A}"/>
              </a:ext>
            </a:extLst>
          </p:cNvPr>
          <p:cNvSpPr/>
          <p:nvPr/>
        </p:nvSpPr>
        <p:spPr>
          <a:xfrm>
            <a:off x="103301" y="4614958"/>
            <a:ext cx="372979" cy="38501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56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76440" y="533520"/>
            <a:ext cx="4524120" cy="133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Evaluation &amp; Testing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76440" y="2028960"/>
            <a:ext cx="4524120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Functional testing for all features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End-to-end user testing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Survey system implemented 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sz="1200" b="1" dirty="0"/>
              <a:t>Results:</a:t>
            </a:r>
            <a:endParaRPr lang="en-US" sz="1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AI improved writing productivity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Social features increased motivation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200" dirty="0"/>
              <a:t>Users showed high satisfaction</a:t>
            </a:r>
          </a:p>
        </p:txBody>
      </p:sp>
      <p:pic>
        <p:nvPicPr>
          <p:cNvPr id="119" name="Google Shape;209;p32"/>
          <p:cNvPicPr/>
          <p:nvPr/>
        </p:nvPicPr>
        <p:blipFill>
          <a:blip r:embed="rId2"/>
          <a:stretch/>
        </p:blipFill>
        <p:spPr>
          <a:xfrm>
            <a:off x="5380560" y="534960"/>
            <a:ext cx="3086640" cy="4073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8940-A4F6-FE1E-420A-6D96C924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>
            <a:extLst>
              <a:ext uri="{FF2B5EF4-FFF2-40B4-BE49-F238E27FC236}">
                <a16:creationId xmlns:a16="http://schemas.microsoft.com/office/drawing/2014/main" id="{8BF2749D-45AD-498B-882D-D3B072471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 dirty="0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Learning &amp; Impact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>
            <a:extLst>
              <a:ext uri="{FF2B5EF4-FFF2-40B4-BE49-F238E27FC236}">
                <a16:creationId xmlns:a16="http://schemas.microsoft.com/office/drawing/2014/main" id="{CD044960-26C4-E4B1-1FE2-9CE608B469A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23960" y="1304999"/>
            <a:ext cx="4449619" cy="292410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buNone/>
            </a:pPr>
            <a:r>
              <a:rPr lang="en-US" sz="1400" b="1" dirty="0">
                <a:latin typeface="Lexend Deca Light"/>
              </a:rPr>
              <a:t>Learnings</a:t>
            </a:r>
          </a:p>
          <a:p>
            <a:pPr>
              <a:buNone/>
            </a:pP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Gained hands-on experience with AI integration (Gemini API)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Explored AI image generation (Gemini, Flux, </a:t>
            </a:r>
            <a:r>
              <a:rPr lang="en-US" sz="1400" dirty="0" err="1">
                <a:latin typeface="Lexend Deca Light"/>
              </a:rPr>
              <a:t>HuggingFace</a:t>
            </a:r>
            <a:r>
              <a:rPr lang="en-US" sz="1400" dirty="0">
                <a:latin typeface="Lexend Deca Light"/>
              </a:rPr>
              <a:t>)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Built an AI-powered messaging bot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Learned full-stack development using MERN stack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Improved debugging and problem-solving skills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Understood importance of testing and iteration</a:t>
            </a:r>
          </a:p>
          <a:p>
            <a:pPr>
              <a:buNone/>
            </a:pPr>
            <a:endParaRPr lang="en-US" sz="1400" b="1" dirty="0">
              <a:latin typeface="Lexend De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B5DFF-D3C5-79B9-DC6F-36D4723A3EE6}"/>
              </a:ext>
            </a:extLst>
          </p:cNvPr>
          <p:cNvSpPr txBox="1"/>
          <p:nvPr/>
        </p:nvSpPr>
        <p:spPr>
          <a:xfrm>
            <a:off x="5302920" y="1304999"/>
            <a:ext cx="361248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latin typeface="Lexend Deca Light"/>
              </a:rPr>
              <a:t>Impact</a:t>
            </a:r>
            <a:br>
              <a:rPr lang="en-US" sz="1400" dirty="0">
                <a:latin typeface="Lexend Deca Light"/>
              </a:rPr>
            </a:br>
            <a:br>
              <a:rPr lang="en-US" sz="18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AI support improved writing productivity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Social features increased user engagement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User feedback helped enhance the platform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Developed a complete end-to-end working product</a:t>
            </a:r>
            <a:br>
              <a:rPr lang="en-US" sz="1400" dirty="0">
                <a:latin typeface="Lexend Deca Light"/>
              </a:rPr>
            </a:br>
            <a:r>
              <a:rPr lang="en-US" sz="1400" dirty="0">
                <a:latin typeface="Lexend Deca Light"/>
              </a:rPr>
              <a:t>• Built confidence in real-world project development</a:t>
            </a:r>
            <a:endParaRPr lang="en-US" sz="1800" dirty="0">
              <a:latin typeface="Lexend Deca Ligh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293532-FE4C-C0C1-2AF5-657135A72E03}"/>
              </a:ext>
            </a:extLst>
          </p:cNvPr>
          <p:cNvCxnSpPr>
            <a:cxnSpLocks/>
          </p:cNvCxnSpPr>
          <p:nvPr/>
        </p:nvCxnSpPr>
        <p:spPr>
          <a:xfrm>
            <a:off x="5173579" y="914400"/>
            <a:ext cx="0" cy="33327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95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B Garamond"/>
                <a:ea typeface="EB Garamond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723960" y="1305000"/>
            <a:ext cx="7857720" cy="240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Bookstagram demonstrates a cohesive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MERN + AI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 platform that bridges structured writing and social engagement.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Lexend Deca Light"/>
                <a:ea typeface="Lexend Deca Light"/>
              </a:rPr>
              <a:t>Result: improved author productivity, richer social discovery, and export-ready eBook outputs.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2F629-CBEE-37EA-E26E-4A3BAA61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125029B0-4517-194E-70BD-764E117CDC9C}"/>
              </a:ext>
            </a:extLst>
          </p:cNvPr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kumimoji="0" lang="en" sz="5200" b="1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EB Garamond"/>
                <a:ea typeface="EB Garamond"/>
                <a:cs typeface="+mj-cs"/>
              </a:rPr>
              <a:t>Thank You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0C6AD-878F-5531-3685-51D03993E5F6}"/>
              </a:ext>
            </a:extLst>
          </p:cNvPr>
          <p:cNvSpPr txBox="1"/>
          <p:nvPr/>
        </p:nvSpPr>
        <p:spPr>
          <a:xfrm>
            <a:off x="2089297" y="2106879"/>
            <a:ext cx="573626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dirty="0">
                <a:latin typeface="Georgia Pro Cond Black" panose="020F0502020204030204" pitchFamily="18" charset="0"/>
              </a:rPr>
              <a:t>Let’s move on to the live demo of Bookstagram.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Georgia Pro Cond Black" panose="020F05020202040302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6DF4CD9-303A-F741-A7AF-3B02AF3E48B3}"/>
              </a:ext>
            </a:extLst>
          </p:cNvPr>
          <p:cNvSpPr/>
          <p:nvPr/>
        </p:nvSpPr>
        <p:spPr>
          <a:xfrm>
            <a:off x="4157330" y="2571750"/>
            <a:ext cx="3944679" cy="372139"/>
          </a:xfrm>
          <a:prstGeom prst="rightArrow">
            <a:avLst/>
          </a:prstGeom>
          <a:ln>
            <a:solidFill>
              <a:schemeClr val="accent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B0AAAAE-1A63-A10C-1513-1B511282BFDF}"/>
              </a:ext>
            </a:extLst>
          </p:cNvPr>
          <p:cNvSpPr/>
          <p:nvPr/>
        </p:nvSpPr>
        <p:spPr>
          <a:xfrm>
            <a:off x="2254102" y="2647507"/>
            <a:ext cx="478465" cy="2126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A3126D-5E4B-A190-A7CB-F584FC3714DD}"/>
              </a:ext>
            </a:extLst>
          </p:cNvPr>
          <p:cNvSpPr/>
          <p:nvPr/>
        </p:nvSpPr>
        <p:spPr>
          <a:xfrm>
            <a:off x="2803451" y="2647507"/>
            <a:ext cx="478465" cy="2126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4F2EF3-5063-087A-E819-CF9515C22C3A}"/>
              </a:ext>
            </a:extLst>
          </p:cNvPr>
          <p:cNvSpPr/>
          <p:nvPr/>
        </p:nvSpPr>
        <p:spPr>
          <a:xfrm>
            <a:off x="3480390" y="2647506"/>
            <a:ext cx="478465" cy="21265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7694005"/>
      </p:ext>
    </p:extLst>
  </p:cSld>
  <p:clrMapOvr>
    <a:masterClrMapping/>
  </p:clrMapOvr>
</p:sld>
</file>

<file path=ppt/theme/theme1.xml><?xml version="1.0" encoding="utf-8"?>
<a:theme xmlns:a="http://schemas.openxmlformats.org/drawingml/2006/main" name="Pastel Palette Theme by Slidesgo">
  <a:themeElements>
    <a:clrScheme name="Simple Light">
      <a:dk1>
        <a:srgbClr val="191919"/>
      </a:dk1>
      <a:lt1>
        <a:srgbClr val="FFFFFF"/>
      </a:lt1>
      <a:dk2>
        <a:srgbClr val="FADAEC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690</Words>
  <Application>Microsoft Office PowerPoint</Application>
  <PresentationFormat>On-screen Show (16:9)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EB Garamond</vt:lpstr>
      <vt:lpstr>Georgia Pro Cond Black</vt:lpstr>
      <vt:lpstr>Lexend Deca</vt:lpstr>
      <vt:lpstr>Lexend Deca Light</vt:lpstr>
      <vt:lpstr>OpenSymbol</vt:lpstr>
      <vt:lpstr>Symbol</vt:lpstr>
      <vt:lpstr>Wingdings</vt:lpstr>
      <vt:lpstr>Pastel Palette Theme by Slidesgo</vt:lpstr>
      <vt:lpstr>Slidesgo Final Pages</vt:lpstr>
      <vt:lpstr>Bookstagram</vt:lpstr>
      <vt:lpstr>PowerPoint Presentation</vt:lpstr>
      <vt:lpstr>Introduction</vt:lpstr>
      <vt:lpstr>PowerPoint Presentation</vt:lpstr>
      <vt:lpstr>PowerPoint Presentation</vt:lpstr>
      <vt:lpstr>PowerPoint Presentation</vt:lpstr>
      <vt:lpstr>AI Integration</vt:lpstr>
      <vt:lpstr>PowerPoint Presentation</vt:lpstr>
      <vt:lpstr>User Flow</vt:lpstr>
      <vt:lpstr>Implementation Approach</vt:lpstr>
      <vt:lpstr>PowerPoint Presentation</vt:lpstr>
      <vt:lpstr>Evaluation &amp; Testing</vt:lpstr>
      <vt:lpstr>Learning &amp; Impact</vt:lpstr>
      <vt:lpstr>Conclusions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Bhatt, Khushi S.</cp:lastModifiedBy>
  <cp:revision>21</cp:revision>
  <dcterms:modified xsi:type="dcterms:W3CDTF">2026-04-11T00:17:18Z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2026-04-09T01:12:04Z</dcterms:created>
  <dc:creator>Unknown Creator</dc:creator>
  <dc:description/>
  <dc:language>en-US</dc:language>
  <cp:lastModifiedBy>Unknown Creator</cp:lastModifiedBy>
  <dcterms:modified xsi:type="dcterms:W3CDTF">2026-04-09T01:12:04Z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